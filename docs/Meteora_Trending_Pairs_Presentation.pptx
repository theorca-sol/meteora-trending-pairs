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00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FFB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0" y="1371600"/>
            <a:ext cx="310896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✨ REVOLUTIONARY PLATFORM 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Meteora Trending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383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Real-Time DLMM Analytics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0233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Track 4,000+ pools • Built-in security • Automated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4846320"/>
            <a:ext cx="1828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4K+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Pools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4846320"/>
            <a:ext cx="1828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60s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Refresh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4846320"/>
            <a:ext cx="1828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24/7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Alerts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4007C"/>
                </a:solidFill>
              </a:defRPr>
            </a:pPr>
            <a:r>
              <a:t>The Challenge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7680960" cy="109728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Traders &amp; LPs Face Critical Obstacles</a:t>
            </a:r>
          </a:p>
          <a:p>
            <a:pPr algn="ctr">
              <a:defRPr>
                <a:solidFill>
                  <a:srgbClr val="FFFFFF"/>
                </a:solidFill>
              </a:defRPr>
            </a:pPr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Finding profitable opportunities in 4,000+ Meteora DLMM pools is overwhelming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2770632"/>
            <a:ext cx="3657600" cy="128016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E4007C"/>
                </a:solidFill>
              </a:defRPr>
            </a:pPr>
            <a:r>
              <a:t>1</a:t>
            </a:r>
          </a:p>
          <a:p>
            <a:pPr algn="ctr">
              <a:defRPr sz="1700" b="1">
                <a:solidFill>
                  <a:srgbClr val="1A1A2E"/>
                </a:solidFill>
              </a:defRPr>
            </a:pPr>
            <a:r>
              <a:t>Information Overload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Too many pools, not enough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657600" cy="13716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82312" y="2770632"/>
            <a:ext cx="3657600" cy="128016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0" y="274320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E4007C"/>
                </a:solidFill>
              </a:defRPr>
            </a:pPr>
            <a:r>
              <a:t>2</a:t>
            </a:r>
          </a:p>
          <a:p>
            <a:pPr algn="ctr">
              <a:defRPr sz="1700" b="1">
                <a:solidFill>
                  <a:srgbClr val="1A1A2E"/>
                </a:solidFill>
              </a:defRPr>
            </a:pPr>
            <a:r>
              <a:t>Security Risks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Rug pulls and scams are rampant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743200"/>
            <a:ext cx="3657600" cy="13716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" y="4325112"/>
            <a:ext cx="3657600" cy="128016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E4007C"/>
                </a:solidFill>
              </a:defRPr>
            </a:pPr>
            <a:r>
              <a:t>3</a:t>
            </a:r>
          </a:p>
          <a:p>
            <a:pPr algn="ctr">
              <a:defRPr sz="1700" b="1">
                <a:solidFill>
                  <a:srgbClr val="1A1A2E"/>
                </a:solidFill>
              </a:defRPr>
            </a:pPr>
            <a:r>
              <a:t>Missed Opportunities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High-APR pools trend for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3657600" cy="13716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82312" y="4325112"/>
            <a:ext cx="3657600" cy="128016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0" y="429768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E4007C"/>
                </a:solidFill>
              </a:defRPr>
            </a:pPr>
            <a:r>
              <a:t>4</a:t>
            </a:r>
          </a:p>
          <a:p>
            <a:pPr algn="ctr">
              <a:defRPr sz="1700" b="1">
                <a:solidFill>
                  <a:srgbClr val="1A1A2E"/>
                </a:solidFill>
              </a:defRPr>
            </a:pPr>
            <a:r>
              <a:t>Data Fragmentation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Information scattered across 7+ sources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297680"/>
            <a:ext cx="3657600" cy="13716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4007C"/>
                </a:solidFill>
              </a:defRPr>
            </a:pPr>
            <a:r>
              <a:t>Our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7680960" cy="109728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 Single Platform for Complete DLMM Intelligence</a:t>
            </a:r>
          </a:p>
          <a:p>
            <a:pPr algn="ctr">
              <a:defRPr>
                <a:solidFill>
                  <a:srgbClr val="FFFFFF"/>
                </a:solidFill>
              </a:defRPr>
            </a:pPr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We aggregate data from 7+ sources and deliver real-time alerts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" y="2770632"/>
            <a:ext cx="2560320" cy="210312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25603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E4007C"/>
                </a:solidFill>
              </a:defRPr>
            </a:pPr>
            <a:r>
              <a:t>4K+</a:t>
            </a:r>
          </a:p>
          <a:p>
            <a:pPr algn="ctr">
              <a:defRPr sz="1500" b="1">
                <a:solidFill>
                  <a:srgbClr val="1A1A2E"/>
                </a:solidFill>
              </a:defRPr>
            </a:pPr>
            <a:r>
              <a:t>Pools Monitored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Every Meteora DLMM pool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560320" cy="13716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93591" y="2770632"/>
            <a:ext cx="2560320" cy="210312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2743200"/>
            <a:ext cx="25603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E4007C"/>
                </a:solidFill>
              </a:defRPr>
            </a:pPr>
            <a:r>
              <a:t>8+</a:t>
            </a:r>
          </a:p>
          <a:p>
            <a:pPr algn="ctr">
              <a:defRPr sz="1500" b="1">
                <a:solidFill>
                  <a:srgbClr val="1A1A2E"/>
                </a:solidFill>
              </a:defRPr>
            </a:pPr>
            <a:r>
              <a:t>Data Sources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Meteora, DexScreener, Jupiter, RugCheck &amp; more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743200"/>
            <a:ext cx="2560320" cy="13716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36792" y="2770632"/>
            <a:ext cx="2560320" cy="210312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2743200"/>
            <a:ext cx="25603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E4007C"/>
                </a:solidFill>
              </a:defRPr>
            </a:pPr>
            <a:r>
              <a:t>24/7</a:t>
            </a:r>
          </a:p>
          <a:p>
            <a:pPr algn="ctr">
              <a:defRPr sz="1500" b="1">
                <a:solidFill>
                  <a:srgbClr val="1A1A2E"/>
                </a:solidFill>
              </a:defRPr>
            </a:pPr>
            <a:r>
              <a:t>Automated Alerts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Telegram notifications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743200"/>
            <a:ext cx="2560320" cy="13716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4007C"/>
                </a:solidFill>
              </a:defRPr>
            </a:pPr>
            <a:r>
              <a:t>Core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581912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📊  Real-Time Analytics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Monitor 30m fees, 24h volume, APR, TVL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6576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82312" y="1581912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155448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🔄  Aggregated Liquidity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Combined depth across all pools per token pair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554480"/>
            <a:ext cx="36576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" y="3044951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💰  Capital Rotation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24/7 monitoring with Telegram alerts for LPs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36576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82312" y="3044951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80" y="301752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🛡️  Security Analysis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RugCheck, holder distribution, authority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017520"/>
            <a:ext cx="36576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8952" y="4507992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🔍  Advanced Filtering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Find pools with custom filters &amp; thresholds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36576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82312" y="4507992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54880" y="448056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📱  Telegram Alerts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Instant notifications when opportunities appear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4480560"/>
            <a:ext cx="36576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4007C"/>
                </a:solidFill>
              </a:defRPr>
            </a:pPr>
            <a:r>
              <a:t>Aggregated Liquidity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34440"/>
            <a:ext cx="7315200" cy="100584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Unified Market Depth View</a:t>
            </a:r>
          </a:p>
          <a:p>
            <a:pPr algn="ctr">
              <a:defRPr>
                <a:solidFill>
                  <a:srgbClr val="FFFFFF"/>
                </a:solidFill>
              </a:defRPr>
            </a:pPr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Combine liquidity from all DLMM pools with the same token pair to see true market depth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2679191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🎯  True Market Depth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See total liquidity across all configurations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3657600" cy="1371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82312" y="2679191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0" y="265176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📊  Better Trading Decisions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Understand real slippage and depth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651760"/>
            <a:ext cx="3657600" cy="1371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" y="4142232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🔍  Multi-Pool Analysis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Compare different bin steps side-by-side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3657600" cy="1371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82312" y="4142232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0" y="411480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💡  Unique Insight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No other platform offers aggregated DLMM liquidity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114800"/>
            <a:ext cx="3657600" cy="1371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4007C"/>
                </a:solidFill>
              </a:defRPr>
            </a:pPr>
            <a: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581912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E4007C"/>
                </a:solidFill>
              </a:defRPr>
            </a:pPr>
            <a:r>
              <a:t>1</a:t>
            </a:r>
          </a:p>
          <a:p>
            <a:pPr algn="ctr">
              <a:defRPr sz="1700" b="1">
                <a:solidFill>
                  <a:srgbClr val="1A1A2E"/>
                </a:solidFill>
              </a:defRPr>
            </a:pPr>
            <a:r>
              <a:t>Data Aggregation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Fetch from 8+ sources (Meteora, DexScreener, Jupiter...)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657600" cy="1371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82312" y="1581912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155448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E4007C"/>
                </a:solidFill>
              </a:defRPr>
            </a:pPr>
            <a:r>
              <a:t>2</a:t>
            </a:r>
          </a:p>
          <a:p>
            <a:pPr algn="ctr">
              <a:defRPr sz="1700" b="1">
                <a:solidFill>
                  <a:srgbClr val="1A1A2E"/>
                </a:solidFill>
              </a:defRPr>
            </a:pPr>
            <a:r>
              <a:t>Smart Analysis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Process 4K+ pools &amp; run security scans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554480"/>
            <a:ext cx="3657600" cy="1371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" y="3044951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E4007C"/>
                </a:solidFill>
              </a:defRPr>
            </a:pPr>
            <a:r>
              <a:t>3</a:t>
            </a:r>
          </a:p>
          <a:p>
            <a:pPr algn="ctr">
              <a:defRPr sz="1700" b="1">
                <a:solidFill>
                  <a:srgbClr val="1A1A2E"/>
                </a:solidFill>
              </a:defRPr>
            </a:pPr>
            <a:r>
              <a:t>Intelligent Filtering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Apply filters &amp; show opportunities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3657600" cy="1371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82312" y="3044951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80" y="301752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E4007C"/>
                </a:solidFill>
              </a:defRPr>
            </a:pPr>
            <a:r>
              <a:t>4</a:t>
            </a:r>
          </a:p>
          <a:p>
            <a:pPr algn="ctr">
              <a:defRPr sz="1700" b="1">
                <a:solidFill>
                  <a:srgbClr val="1A1A2E"/>
                </a:solidFill>
              </a:defRPr>
            </a:pPr>
            <a:r>
              <a:t>Real-Time Alerts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Send Telegram notifications instantly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017520"/>
            <a:ext cx="3657600" cy="1371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4007C"/>
                </a:solidFill>
              </a:defRPr>
            </a:pPr>
            <a:r>
              <a:t>Data 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7315200" cy="73152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Multi-Source Data Aggregation</a:t>
            </a:r>
          </a:p>
          <a:p>
            <a:pPr algn="ctr">
              <a:defRPr>
                <a:solidFill>
                  <a:srgbClr val="FFFFFF"/>
                </a:solidFill>
              </a:defRPr>
            </a:pP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We integrate 8+ APIs to provide the most comprehensive DLMM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2313432"/>
            <a:ext cx="3657600" cy="91440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657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1  Meteora API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Pool data, positions, fees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6576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82312" y="2313432"/>
            <a:ext cx="3657600" cy="91440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0" y="2286000"/>
            <a:ext cx="3657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2  DexScreener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Price charts, volume stats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286000"/>
            <a:ext cx="36576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" y="3364991"/>
            <a:ext cx="3657600" cy="91440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337560"/>
            <a:ext cx="3657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3  Jupiter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Token prices, liquidity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36576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82312" y="3364991"/>
            <a:ext cx="3657600" cy="91440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0" y="3337560"/>
            <a:ext cx="3657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4  RugCheck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Security scans, risk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337560"/>
            <a:ext cx="36576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8952" y="4416552"/>
            <a:ext cx="3657600" cy="91440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3657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5  Helius RPC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Holder distribution, on-chain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36576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82312" y="4416552"/>
            <a:ext cx="3657600" cy="91440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0" y="4389120"/>
            <a:ext cx="3657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6  Birdeye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Advanced charts, market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4389120"/>
            <a:ext cx="36576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" y="5468112"/>
            <a:ext cx="3657600" cy="91440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440679"/>
            <a:ext cx="3657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7  Solscan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Transaction explorer, token info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40679"/>
            <a:ext cx="36576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82312" y="5468112"/>
            <a:ext cx="3657600" cy="91440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54880" y="5440679"/>
            <a:ext cx="3657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8  Solana RPC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Real-time blockchain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5440679"/>
            <a:ext cx="36576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4007C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6459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0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React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645920"/>
            <a:ext cx="16459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0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Material-UI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645920"/>
            <a:ext cx="16459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0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Flask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16459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0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Node.js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23160"/>
            <a:ext cx="16459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0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PostgreSQL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423160"/>
            <a:ext cx="16459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0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Supabase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423160"/>
            <a:ext cx="16459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0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Solana Web3.js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423160"/>
            <a:ext cx="16459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0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APScheduler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16459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0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Telegram Bot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200400"/>
            <a:ext cx="16459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0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DexScreener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200400"/>
            <a:ext cx="16459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0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Jupiter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00400"/>
            <a:ext cx="16459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0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RugCheck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4007C"/>
                </a:solidFill>
              </a:defRPr>
            </a:pPr>
            <a:r>
              <a:t>Why We're Different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581912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🎯  100% DLMM Focused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Built exclusively for Meteora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657600" cy="13716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82312" y="1581912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155448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🔒  Security-First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Integrated security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554480"/>
            <a:ext cx="3657600" cy="13716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" y="3044951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📲  Mobile-First Alerts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Always connected via Telegram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3657600" cy="13716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82312" y="3044951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80" y="301752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⚙️  Highly Customizable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Adapts to your strategy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017520"/>
            <a:ext cx="3657600" cy="13716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4007C"/>
                </a:solidFill>
              </a:defRPr>
            </a:pPr>
            <a:r>
              <a:t>Product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1832" y="1673352"/>
            <a:ext cx="2286000" cy="2377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22860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E4007C"/>
                </a:solidFill>
              </a:defRPr>
            </a:pPr>
            <a:r>
              <a:t>Q1 2025</a:t>
            </a:r>
          </a:p>
          <a:p/>
          <a:p>
            <a:pPr>
              <a:defRPr sz="1100">
                <a:solidFill>
                  <a:srgbClr val="666666"/>
                </a:solidFill>
              </a:defRPr>
            </a:pPr>
            <a:r>
              <a:t>• Automated trading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• Portfolio tracking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• Backtesting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• Watchlist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22860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10712" y="1673352"/>
            <a:ext cx="2286000" cy="2377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2860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E4007C"/>
                </a:solidFill>
              </a:defRPr>
            </a:pPr>
            <a:r>
              <a:t>Q2 2025</a:t>
            </a:r>
          </a:p>
          <a:p/>
          <a:p>
            <a:pPr>
              <a:defRPr sz="1100">
                <a:solidFill>
                  <a:srgbClr val="666666"/>
                </a:solidFill>
              </a:defRPr>
            </a:pPr>
            <a:r>
              <a:t>• Custom alerts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• Multi-DEX support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• Mobile apps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• API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2860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79592" y="1673352"/>
            <a:ext cx="2286000" cy="2377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52160" y="1645920"/>
            <a:ext cx="22860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E4007C"/>
                </a:solidFill>
              </a:defRPr>
            </a:pPr>
            <a:r>
              <a:t>Q3 2025</a:t>
            </a:r>
          </a:p>
          <a:p/>
          <a:p>
            <a:pPr>
              <a:defRPr sz="1100">
                <a:solidFill>
                  <a:srgbClr val="666666"/>
                </a:solidFill>
              </a:defRPr>
            </a:pPr>
            <a:r>
              <a:t>• Social features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• AI-powered scoring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• Cross-chain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• Enterprise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645920"/>
            <a:ext cx="22860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4007C"/>
                </a:solidFill>
              </a:defRPr>
            </a:pPr>
            <a:r>
              <a:t>Business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1832" y="1673352"/>
            <a:ext cx="2286000" cy="2377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22860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E4007C"/>
                </a:solidFill>
              </a:defRPr>
            </a:pPr>
            <a:r>
              <a:t>Free</a:t>
            </a:r>
          </a:p>
          <a:p/>
          <a:p>
            <a:pPr algn="ctr">
              <a:defRPr sz="1100">
                <a:solidFill>
                  <a:srgbClr val="666666"/>
                </a:solidFill>
              </a:defRPr>
            </a:pPr>
            <a:r>
              <a:t>Core analytics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Basic monitoring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Security analysis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Always free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2286000" cy="1371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10712" y="1673352"/>
            <a:ext cx="2286000" cy="2377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2860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E4007C"/>
                </a:solidFill>
              </a:defRPr>
            </a:pPr>
            <a:r>
              <a:t>Premium</a:t>
            </a:r>
          </a:p>
          <a:p/>
          <a:p>
            <a:pPr algn="ctr">
              <a:defRPr sz="1100">
                <a:solidFill>
                  <a:srgbClr val="666666"/>
                </a:solidFill>
              </a:defRPr>
            </a:pPr>
            <a:r>
              <a:t>$29/month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1-min monitoring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Unlimited alerts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API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286000" cy="1371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79592" y="1673352"/>
            <a:ext cx="2286000" cy="2377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52160" y="1645920"/>
            <a:ext cx="22860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E4007C"/>
                </a:solidFill>
              </a:defRPr>
            </a:pPr>
            <a:r>
              <a:t>Enterprise</a:t>
            </a:r>
          </a:p>
          <a:p/>
          <a:p>
            <a:pPr algn="ctr">
              <a:defRPr sz="1100">
                <a:solidFill>
                  <a:srgbClr val="666666"/>
                </a:solidFill>
              </a:defRPr>
            </a:pPr>
            <a:r>
              <a:t>Custom pricing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White-label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Dedicated infra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SLA guarantees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645920"/>
            <a:ext cx="2286000" cy="1371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581912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55448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💰  Growing DeFi Market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Solana DeFi TVL exceeds $8B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554480"/>
            <a:ext cx="36576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82312" y="1581912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54880" y="155448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👥  Target Audience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Traders, LPs, protocols, funds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554480"/>
            <a:ext cx="36576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" y="3044951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301752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📈  Scalable Model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Start Meteora, expand multi-chain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17520"/>
            <a:ext cx="36576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82312" y="3044951"/>
            <a:ext cx="3657600" cy="12344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754880" y="3017520"/>
            <a:ext cx="36576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🚀  First-Mover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No dedicated DLMM analytics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017520"/>
            <a:ext cx="3657600" cy="137160"/>
          </a:xfrm>
          <a:prstGeom prst="roundRect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4007C"/>
                </a:solidFill>
              </a:defRPr>
            </a:pPr>
            <a:r>
              <a:t>Market Opportunity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4007C"/>
                </a:solidFill>
              </a:defRPr>
            </a:pPr>
            <a:r>
              <a:t>Current Traction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99032" y="1673352"/>
            <a:ext cx="2103120" cy="14630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E4007C"/>
                </a:solidFill>
              </a:defRPr>
            </a:pPr>
            <a:r>
              <a:t>100%</a:t>
            </a:r>
          </a:p>
          <a:p>
            <a:pPr algn="ctr">
              <a:defRPr sz="1500" b="1">
                <a:solidFill>
                  <a:srgbClr val="1A1A2E"/>
                </a:solidFill>
              </a:defRPr>
            </a:pPr>
            <a:r>
              <a:t>Feature Complete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2103120" cy="13716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85032" y="1673352"/>
            <a:ext cx="2103120" cy="14630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164592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E4007C"/>
                </a:solidFill>
              </a:defRPr>
            </a:pPr>
            <a:r>
              <a:t>4K+</a:t>
            </a:r>
          </a:p>
          <a:p>
            <a:pPr algn="ctr">
              <a:defRPr sz="1500" b="1">
                <a:solidFill>
                  <a:srgbClr val="1A1A2E"/>
                </a:solidFill>
              </a:defRPr>
            </a:pPr>
            <a:r>
              <a:t>Pools Tracked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45920"/>
            <a:ext cx="2103120" cy="13716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71032" y="1673352"/>
            <a:ext cx="2103120" cy="14630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E4007C"/>
                </a:solidFill>
              </a:defRPr>
            </a:pPr>
            <a:r>
              <a:t>60s</a:t>
            </a:r>
          </a:p>
          <a:p>
            <a:pPr algn="ctr">
              <a:defRPr sz="1500" b="1">
                <a:solidFill>
                  <a:srgbClr val="1A1A2E"/>
                </a:solidFill>
              </a:defRPr>
            </a:pPr>
            <a:r>
              <a:t>Refresh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645920"/>
            <a:ext cx="2103120" cy="13716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28800" y="3657600"/>
            <a:ext cx="5486400" cy="91440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Ready to Launch</a:t>
            </a:r>
          </a:p>
          <a:p>
            <a:pPr algn="ctr">
              <a:defRPr>
                <a:solidFill>
                  <a:srgbClr val="FFFFFF"/>
                </a:solidFill>
              </a:defRPr>
            </a:pP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Platform is fully functional and tested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4007C"/>
                </a:solidFill>
              </a:defRPr>
            </a:pPr>
            <a:r>
              <a:t>Live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6400800" cy="109728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Experience the Platform Live</a:t>
            </a:r>
          </a:p>
          <a:p>
            <a:pPr algn="ctr">
              <a:defRPr>
                <a:solidFill>
                  <a:srgbClr val="FFFFFF"/>
                </a:solidFill>
              </a:defRPr>
            </a:p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See real-time data from 4,000+ pools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3657600"/>
            <a:ext cx="2743200" cy="6400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</a:defRPr>
            </a:pPr>
            <a:r>
              <a:t>Open Dashboard 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4007C"/>
                </a:solidFill>
              </a:defRPr>
            </a:pPr>
            <a:r>
              <a:t>Let's Connect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99032" y="1490472"/>
            <a:ext cx="3108960" cy="105156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3108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🌐  Live Platform</a:t>
            </a:r>
          </a:p>
          <a:p>
            <a:pPr algn="ctr">
              <a:defRPr sz="1200">
                <a:solidFill>
                  <a:srgbClr val="E4007C"/>
                </a:solidFill>
              </a:defRPr>
            </a:pPr>
            <a:r>
              <a:t>[Your Info]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463040"/>
            <a:ext cx="3108960" cy="1371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73752" y="1490472"/>
            <a:ext cx="3108960" cy="105156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46320" y="1463040"/>
            <a:ext cx="3108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📧  Email</a:t>
            </a:r>
          </a:p>
          <a:p>
            <a:pPr algn="ctr">
              <a:defRPr sz="1200">
                <a:solidFill>
                  <a:srgbClr val="E4007C"/>
                </a:solidFill>
              </a:defRPr>
            </a:pPr>
            <a:r>
              <a:t>[Your Info]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463040"/>
            <a:ext cx="3108960" cy="1371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99032" y="2770632"/>
            <a:ext cx="3108960" cy="105156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2743200"/>
            <a:ext cx="3108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🐦  Twitter</a:t>
            </a:r>
          </a:p>
          <a:p>
            <a:pPr algn="ctr">
              <a:defRPr sz="1200">
                <a:solidFill>
                  <a:srgbClr val="E4007C"/>
                </a:solidFill>
              </a:defRPr>
            </a:pPr>
            <a:r>
              <a:t>[Your Info]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743200"/>
            <a:ext cx="3108960" cy="1371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73752" y="2770632"/>
            <a:ext cx="3108960" cy="105156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46320" y="2743200"/>
            <a:ext cx="3108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💬  Telegram</a:t>
            </a:r>
          </a:p>
          <a:p>
            <a:pPr algn="ctr">
              <a:defRPr sz="1200">
                <a:solidFill>
                  <a:srgbClr val="E4007C"/>
                </a:solidFill>
              </a:defRPr>
            </a:pPr>
            <a:r>
              <a:t>[Your Info]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743200"/>
            <a:ext cx="3108960" cy="1371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4114800"/>
            <a:ext cx="6400800" cy="822960"/>
          </a:xfrm>
          <a:prstGeom prst="roundRect">
            <a:avLst/>
          </a:prstGeom>
          <a:solidFill>
            <a:srgbClr val="E40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We're Seeking</a:t>
            </a:r>
          </a:p>
          <a:p>
            <a:pPr algn="ctr">
              <a:defRPr>
                <a:solidFill>
                  <a:srgbClr val="FFFFFF"/>
                </a:solidFill>
              </a:defRPr>
            </a:pP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Strategic Partners • Advisors • Beta Users • Feedback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00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7C2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FFB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60320" y="1371600"/>
            <a:ext cx="402336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✨ THE FUTURE OF DLMM TRADING 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200" b="1">
                <a:solidFill>
                  <a:srgbClr val="FFFFFF"/>
                </a:solidFill>
              </a:defRPr>
            </a:pPr>
            <a:r>
              <a:t>Ready to Trade Smarter?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Join us in revolutionizing DLMM analytics on Solana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Thank you for your time!</a:t>
            </a:r>
          </a:p>
          <a:p>
            <a:pPr algn="ctr">
              <a:defRPr>
                <a:solidFill>
                  <a:srgbClr val="FFFFFF"/>
                </a:solidFill>
              </a:defRPr>
            </a:pPr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Questions? Let's discuss how we can work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